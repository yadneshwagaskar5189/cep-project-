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7" r:id="rId9"/>
  </p:sldIdLst>
  <p:sldSz cx="16256000" cy="9144000"/>
  <p:notesSz cx="9144000" cy="16256000"/>
  <p:embeddedFontLst>
    <p:embeddedFont>
      <p:font typeface="Inter" panose="020B0604020202020204" charset="0"/>
      <p:regular r:id="rId11"/>
    </p:embeddedFont>
    <p:embeddedFont>
      <p:font typeface="Merriweather" panose="00000500000000000000" pitchFamily="2" charset="0"/>
      <p:regular r:id="rId12"/>
      <p:bold r:id="rId13"/>
      <p:italic r:id="rId14"/>
      <p:boldItalic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4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406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ver-kicker"/>
          <p:cNvSpPr/>
          <p:nvPr/>
        </p:nvSpPr>
        <p:spPr>
          <a:xfrm>
            <a:off x="609600" y="1602740"/>
            <a:ext cx="863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ENGAGEMENT PROJECT</a:t>
            </a:r>
            <a:endParaRPr lang="en-US" sz="3200" dirty="0"/>
          </a:p>
        </p:txBody>
      </p:sp>
      <p:sp>
        <p:nvSpPr>
          <p:cNvPr id="5" name="cover-title"/>
          <p:cNvSpPr/>
          <p:nvPr/>
        </p:nvSpPr>
        <p:spPr>
          <a:xfrm>
            <a:off x="609600" y="2692400"/>
            <a:ext cx="121920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altLang="en-US" sz="60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Arogya Disha — Healthcare Awareness &amp; Literacy Platform</a:t>
            </a:r>
            <a:endParaRPr lang="en-US" sz="6000" dirty="0"/>
          </a:p>
        </p:txBody>
      </p:sp>
      <p:sp>
        <p:nvSpPr>
          <p:cNvPr id="6" name="cover-summary"/>
          <p:cNvSpPr/>
          <p:nvPr/>
        </p:nvSpPr>
        <p:spPr>
          <a:xfrm>
            <a:off x="609600" y="4445000"/>
            <a:ext cx="1041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Django web application that helps people find about public healthcare</a:t>
            </a:r>
            <a:endParaRPr lang="en-US" sz="3200" dirty="0"/>
          </a:p>
        </p:txBody>
      </p:sp>
      <p:sp>
        <p:nvSpPr>
          <p:cNvPr id="7" name="pillar-rule"/>
          <p:cNvSpPr/>
          <p:nvPr/>
        </p:nvSpPr>
        <p:spPr>
          <a:xfrm>
            <a:off x="609600" y="5689600"/>
            <a:ext cx="15036800" cy="9144"/>
          </a:xfrm>
          <a:prstGeom prst="line">
            <a:avLst/>
          </a:prstGeom>
          <a:ln w="25400">
            <a:solidFill>
              <a:srgbClr val="E2E8F0"/>
            </a:solidFill>
            <a:prstDash val="dash"/>
          </a:ln>
        </p:spPr>
      </p:sp>
      <p:sp>
        <p:nvSpPr>
          <p:cNvPr id="8" name="pillar-one-frame"/>
          <p:cNvSpPr/>
          <p:nvPr/>
        </p:nvSpPr>
        <p:spPr>
          <a:xfrm>
            <a:off x="609600" y="6172200"/>
            <a:ext cx="4445000" cy="1447800"/>
          </a:xfrm>
          <a:prstGeom prst="rect">
            <a:avLst/>
          </a:prstGeom>
          <a:ln w="25400">
            <a:solidFill>
              <a:srgbClr val="E2E8F0"/>
            </a:solidFill>
            <a:prstDash val="dash"/>
          </a:ln>
        </p:spPr>
      </p:sp>
      <p:pic>
        <p:nvPicPr>
          <p:cNvPr id="9" name="pillar-on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451600"/>
            <a:ext cx="406400" cy="406400"/>
          </a:xfrm>
          <a:prstGeom prst="rect">
            <a:avLst/>
          </a:prstGeom>
        </p:spPr>
      </p:pic>
      <p:sp>
        <p:nvSpPr>
          <p:cNvPr id="10" name="pillar-one-text"/>
          <p:cNvSpPr/>
          <p:nvPr/>
        </p:nvSpPr>
        <p:spPr>
          <a:xfrm>
            <a:off x="1524000" y="6388100"/>
            <a:ext cx="317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alt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schemes</a:t>
            </a:r>
            <a:endParaRPr lang="en-US" sz="1900" dirty="0"/>
          </a:p>
          <a:p>
            <a:pPr marL="0" indent="0" algn="l">
              <a:lnSpc>
                <a:spcPts val="2280"/>
              </a:lnSpc>
              <a:buNone/>
            </a:pPr>
            <a:r>
              <a:rPr lang="en-US" sz="19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</a:rPr>
              <a:t>List</a:t>
            </a:r>
            <a:endParaRPr lang="en-US" sz="1900" dirty="0"/>
          </a:p>
        </p:txBody>
      </p:sp>
      <p:sp>
        <p:nvSpPr>
          <p:cNvPr id="11" name="pillar-two-frame"/>
          <p:cNvSpPr/>
          <p:nvPr/>
        </p:nvSpPr>
        <p:spPr>
          <a:xfrm>
            <a:off x="5905500" y="6172200"/>
            <a:ext cx="4445000" cy="1447800"/>
          </a:xfrm>
          <a:prstGeom prst="rect">
            <a:avLst/>
          </a:prstGeom>
          <a:ln w="25400">
            <a:solidFill>
              <a:srgbClr val="E2E8F0"/>
            </a:solidFill>
            <a:prstDash val="dash"/>
          </a:ln>
        </p:spPr>
      </p:sp>
      <p:pic>
        <p:nvPicPr>
          <p:cNvPr id="12" name="pillar-two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900" y="6451600"/>
            <a:ext cx="406400" cy="406400"/>
          </a:xfrm>
          <a:prstGeom prst="rect">
            <a:avLst/>
          </a:prstGeom>
        </p:spPr>
      </p:pic>
      <p:sp>
        <p:nvSpPr>
          <p:cNvPr id="13" name="pillar-two-text"/>
          <p:cNvSpPr/>
          <p:nvPr/>
        </p:nvSpPr>
        <p:spPr>
          <a:xfrm>
            <a:off x="6819900" y="6388100"/>
            <a:ext cx="317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alt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</a:t>
            </a:r>
            <a:endParaRPr lang="en-US" sz="1900" dirty="0"/>
          </a:p>
          <a:p>
            <a:pPr marL="0" indent="0" algn="l">
              <a:lnSpc>
                <a:spcPts val="2280"/>
              </a:lnSpc>
              <a:buNone/>
            </a:pPr>
            <a:r>
              <a:rPr lang="en-US" altLang="en-US" sz="19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locator</a:t>
            </a:r>
            <a:endParaRPr lang="en-US" sz="1900" dirty="0"/>
          </a:p>
        </p:txBody>
      </p:sp>
      <p:sp>
        <p:nvSpPr>
          <p:cNvPr id="14" name="pillar-three-frame"/>
          <p:cNvSpPr/>
          <p:nvPr/>
        </p:nvSpPr>
        <p:spPr>
          <a:xfrm>
            <a:off x="11201400" y="6172200"/>
            <a:ext cx="4445000" cy="1447800"/>
          </a:xfrm>
          <a:prstGeom prst="rect">
            <a:avLst/>
          </a:prstGeom>
          <a:ln w="25400">
            <a:solidFill>
              <a:srgbClr val="E2E8F0"/>
            </a:solidFill>
            <a:prstDash val="dash"/>
          </a:ln>
        </p:spPr>
      </p:sp>
      <p:pic>
        <p:nvPicPr>
          <p:cNvPr id="15" name="pillar-thre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0800" y="6451600"/>
            <a:ext cx="406400" cy="406400"/>
          </a:xfrm>
          <a:prstGeom prst="rect">
            <a:avLst/>
          </a:prstGeom>
        </p:spPr>
      </p:pic>
      <p:sp>
        <p:nvSpPr>
          <p:cNvPr id="16" name="pillar-three-text"/>
          <p:cNvSpPr/>
          <p:nvPr/>
        </p:nvSpPr>
        <p:spPr>
          <a:xfrm>
            <a:off x="12115800" y="6388100"/>
            <a:ext cx="317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</a:rPr>
              <a:t>AI MODEL</a:t>
            </a:r>
            <a:endParaRPr lang="en-US" sz="1900" dirty="0"/>
          </a:p>
          <a:p>
            <a:pPr marL="0" indent="0" algn="l">
              <a:lnSpc>
                <a:spcPts val="2280"/>
              </a:lnSpc>
              <a:buNone/>
            </a:pPr>
            <a:r>
              <a:rPr lang="en-US" altLang="en-US" sz="19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 checker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609600" y="533400"/>
            <a:ext cx="1435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6" name="schemes-card"/>
          <p:cNvSpPr/>
          <p:nvPr/>
        </p:nvSpPr>
        <p:spPr>
          <a:xfrm>
            <a:off x="609600" y="1352042"/>
            <a:ext cx="4773930" cy="6530086"/>
          </a:xfrm>
          <a:prstGeom prst="rect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dash"/>
          </a:ln>
        </p:spPr>
      </p:sp>
      <p:sp>
        <p:nvSpPr>
          <p:cNvPr id="7" name="schemes-number"/>
          <p:cNvSpPr/>
          <p:nvPr/>
        </p:nvSpPr>
        <p:spPr>
          <a:xfrm>
            <a:off x="914399" y="1682241"/>
            <a:ext cx="834785" cy="798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000" dirty="0">
                <a:solidFill>
                  <a:srgbClr val="05966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schemes-title"/>
          <p:cNvSpPr/>
          <p:nvPr/>
        </p:nvSpPr>
        <p:spPr>
          <a:xfrm>
            <a:off x="882106" y="2399689"/>
            <a:ext cx="2880361" cy="743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Government schemes list</a:t>
            </a:r>
            <a:endParaRPr lang="en-US" sz="3200" dirty="0"/>
          </a:p>
        </p:txBody>
      </p:sp>
      <p:sp>
        <p:nvSpPr>
          <p:cNvPr id="10" name="schemes-body"/>
          <p:cNvSpPr/>
          <p:nvPr/>
        </p:nvSpPr>
        <p:spPr>
          <a:xfrm>
            <a:off x="914399" y="3523741"/>
            <a:ext cx="3913057" cy="1945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Eligibility rules, documents, and step-by-step application instructions.</a:t>
            </a:r>
            <a:endParaRPr lang="en-US" sz="2800" dirty="0"/>
          </a:p>
        </p:txBody>
      </p:sp>
      <p:sp>
        <p:nvSpPr>
          <p:cNvPr id="11" name="schemes-stat-rule"/>
          <p:cNvSpPr/>
          <p:nvPr/>
        </p:nvSpPr>
        <p:spPr>
          <a:xfrm>
            <a:off x="914399" y="5238241"/>
            <a:ext cx="3521751" cy="12505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12" name="schemes-stat"/>
          <p:cNvSpPr/>
          <p:nvPr/>
        </p:nvSpPr>
        <p:spPr>
          <a:xfrm>
            <a:off x="882106" y="6009386"/>
            <a:ext cx="3521751" cy="555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verified schemes seeded</a:t>
            </a:r>
            <a:endParaRPr lang="en-US" sz="2400" dirty="0"/>
          </a:p>
        </p:txBody>
      </p:sp>
      <p:sp>
        <p:nvSpPr>
          <p:cNvPr id="13" name="hospitals-card"/>
          <p:cNvSpPr/>
          <p:nvPr/>
        </p:nvSpPr>
        <p:spPr>
          <a:xfrm>
            <a:off x="5803900" y="1352042"/>
            <a:ext cx="4773930" cy="6530086"/>
          </a:xfrm>
          <a:prstGeom prst="rect">
            <a:avLst/>
          </a:prstGeom>
          <a:ln w="25400">
            <a:solidFill>
              <a:srgbClr val="E2E8F0"/>
            </a:solidFill>
            <a:prstDash val="dash"/>
          </a:ln>
        </p:spPr>
      </p:sp>
      <p:sp>
        <p:nvSpPr>
          <p:cNvPr id="14" name="hospitals-number"/>
          <p:cNvSpPr/>
          <p:nvPr/>
        </p:nvSpPr>
        <p:spPr>
          <a:xfrm>
            <a:off x="6108699" y="1682241"/>
            <a:ext cx="834785" cy="798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000" dirty="0">
                <a:solidFill>
                  <a:srgbClr val="05966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hospitals-title"/>
          <p:cNvSpPr/>
          <p:nvPr/>
        </p:nvSpPr>
        <p:spPr>
          <a:xfrm>
            <a:off x="6171323" y="2480626"/>
            <a:ext cx="3652187" cy="95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2"/>
              </a:lnSpc>
              <a:buNone/>
            </a:pPr>
            <a:r>
              <a:rPr lang="en-US" altLang="en-US" sz="32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Hospital locator</a:t>
            </a:r>
            <a:endParaRPr lang="en-US" sz="3200" dirty="0"/>
          </a:p>
        </p:txBody>
      </p:sp>
      <p:sp>
        <p:nvSpPr>
          <p:cNvPr id="17" name="hospitals-body"/>
          <p:cNvSpPr/>
          <p:nvPr/>
        </p:nvSpPr>
        <p:spPr>
          <a:xfrm>
            <a:off x="6108699" y="3523741"/>
            <a:ext cx="3913057" cy="1945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altLang="en-US" sz="2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 search.</a:t>
            </a:r>
            <a:endParaRPr lang="en-US" sz="2800" dirty="0"/>
          </a:p>
        </p:txBody>
      </p:sp>
      <p:sp>
        <p:nvSpPr>
          <p:cNvPr id="18" name="hospitals-stat-rule"/>
          <p:cNvSpPr/>
          <p:nvPr/>
        </p:nvSpPr>
        <p:spPr>
          <a:xfrm>
            <a:off x="6108699" y="5238241"/>
            <a:ext cx="3521751" cy="12505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19" name="hospitals-stat"/>
          <p:cNvSpPr/>
          <p:nvPr/>
        </p:nvSpPr>
        <p:spPr>
          <a:xfrm>
            <a:off x="6301906" y="5899784"/>
            <a:ext cx="3652187" cy="555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106 Pune-district hospitals</a:t>
            </a:r>
            <a:endParaRPr lang="en-US" sz="2400" dirty="0"/>
          </a:p>
        </p:txBody>
      </p:sp>
      <p:sp>
        <p:nvSpPr>
          <p:cNvPr id="20" name="checker-card"/>
          <p:cNvSpPr/>
          <p:nvPr/>
        </p:nvSpPr>
        <p:spPr>
          <a:xfrm>
            <a:off x="10998200" y="1352042"/>
            <a:ext cx="4773930" cy="6530086"/>
          </a:xfrm>
          <a:prstGeom prst="rect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dash"/>
          </a:ln>
        </p:spPr>
      </p:sp>
      <p:sp>
        <p:nvSpPr>
          <p:cNvPr id="21" name="checker-number"/>
          <p:cNvSpPr/>
          <p:nvPr/>
        </p:nvSpPr>
        <p:spPr>
          <a:xfrm>
            <a:off x="11302999" y="1682241"/>
            <a:ext cx="834785" cy="798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000" dirty="0">
                <a:solidFill>
                  <a:srgbClr val="05966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03</a:t>
            </a:r>
            <a:endParaRPr lang="en-US" sz="4000" dirty="0"/>
          </a:p>
        </p:txBody>
      </p:sp>
      <p:sp>
        <p:nvSpPr>
          <p:cNvPr id="23" name="checker-title"/>
          <p:cNvSpPr/>
          <p:nvPr/>
        </p:nvSpPr>
        <p:spPr>
          <a:xfrm>
            <a:off x="11303000" y="2400197"/>
            <a:ext cx="3782622" cy="95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ML symptom checker</a:t>
            </a:r>
            <a:endParaRPr lang="en-US" sz="3200" dirty="0"/>
          </a:p>
        </p:txBody>
      </p:sp>
      <p:sp>
        <p:nvSpPr>
          <p:cNvPr id="24" name="checker-body"/>
          <p:cNvSpPr/>
          <p:nvPr/>
        </p:nvSpPr>
        <p:spPr>
          <a:xfrm>
            <a:off x="11302999" y="3523741"/>
            <a:ext cx="3913057" cy="1945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rules, adaptive questions, and explainable context modifiers place urgency before diagnosis.</a:t>
            </a:r>
            <a:endParaRPr lang="en-US" sz="2800" dirty="0"/>
          </a:p>
        </p:txBody>
      </p:sp>
      <p:sp>
        <p:nvSpPr>
          <p:cNvPr id="25" name="checker-stat-rule"/>
          <p:cNvSpPr/>
          <p:nvPr/>
        </p:nvSpPr>
        <p:spPr>
          <a:xfrm>
            <a:off x="11302999" y="5238241"/>
            <a:ext cx="3521751" cy="12505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26" name="checker-stat"/>
          <p:cNvSpPr/>
          <p:nvPr/>
        </p:nvSpPr>
        <p:spPr>
          <a:xfrm>
            <a:off x="11410013" y="6300596"/>
            <a:ext cx="3652187" cy="555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 conditions · 189 symptoms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609600" y="533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4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 structure: 4 Django apps, 1 ML module</a:t>
            </a:r>
            <a:endParaRPr lang="en-US" sz="4400" dirty="0"/>
          </a:p>
        </p:txBody>
      </p:sp>
      <p:sp>
        <p:nvSpPr>
          <p:cNvPr id="8" name="core-card"/>
          <p:cNvSpPr/>
          <p:nvPr/>
        </p:nvSpPr>
        <p:spPr>
          <a:xfrm>
            <a:off x="392430" y="1828800"/>
            <a:ext cx="3485500" cy="2839324"/>
          </a:xfrm>
          <a:prstGeom prst="rect">
            <a:avLst/>
          </a:prstGeom>
          <a:noFill/>
          <a:ln w="254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core-title"/>
          <p:cNvSpPr/>
          <p:nvPr/>
        </p:nvSpPr>
        <p:spPr>
          <a:xfrm>
            <a:off x="697230" y="2320734"/>
            <a:ext cx="2681154" cy="513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</a:t>
            </a:r>
            <a:endParaRPr lang="en-US" sz="3200" dirty="0"/>
          </a:p>
        </p:txBody>
      </p:sp>
      <p:sp>
        <p:nvSpPr>
          <p:cNvPr id="11" name="core-body"/>
          <p:cNvSpPr/>
          <p:nvPr/>
        </p:nvSpPr>
        <p:spPr>
          <a:xfrm>
            <a:off x="697230" y="3082337"/>
            <a:ext cx="2815211" cy="855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· About · health tips</a:t>
            </a:r>
            <a:endParaRPr lang="en-US" sz="2400" dirty="0"/>
          </a:p>
          <a:p>
            <a:pPr marL="0" indent="0" algn="l">
              <a:lnSpc>
                <a:spcPts val="1888"/>
              </a:lnSpc>
              <a:buNone/>
            </a:pPr>
            <a:r>
              <a:rPr lang="en-US" alt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seed_data.py</a:t>
            </a:r>
            <a:endParaRPr lang="en-US" sz="2400" dirty="0"/>
          </a:p>
        </p:txBody>
      </p:sp>
      <p:sp>
        <p:nvSpPr>
          <p:cNvPr id="12" name="schemes-app-card"/>
          <p:cNvSpPr/>
          <p:nvPr/>
        </p:nvSpPr>
        <p:spPr>
          <a:xfrm>
            <a:off x="4304030" y="1828800"/>
            <a:ext cx="3485500" cy="2839324"/>
          </a:xfrm>
          <a:prstGeom prst="rect">
            <a:avLst/>
          </a:prstGeom>
          <a:ln w="25400">
            <a:solidFill>
              <a:srgbClr val="E2E8F0"/>
            </a:solidFill>
            <a:prstDash val="dash"/>
          </a:ln>
        </p:spPr>
      </p:sp>
      <p:sp>
        <p:nvSpPr>
          <p:cNvPr id="14" name="schemes-app-title"/>
          <p:cNvSpPr/>
          <p:nvPr/>
        </p:nvSpPr>
        <p:spPr>
          <a:xfrm>
            <a:off x="4608829" y="2322004"/>
            <a:ext cx="2681154" cy="513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schemes</a:t>
            </a:r>
            <a:endParaRPr lang="en-US" sz="3200" dirty="0"/>
          </a:p>
        </p:txBody>
      </p:sp>
      <p:sp>
        <p:nvSpPr>
          <p:cNvPr id="15" name="schemes-app-body"/>
          <p:cNvSpPr/>
          <p:nvPr/>
        </p:nvSpPr>
        <p:spPr>
          <a:xfrm>
            <a:off x="4608829" y="3093326"/>
            <a:ext cx="2815211" cy="855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scheme</a:t>
            </a:r>
            <a:endParaRPr lang="en-US" sz="2400" dirty="0"/>
          </a:p>
          <a:p>
            <a:pPr marL="0" indent="0" algn="l">
              <a:lnSpc>
                <a:spcPts val="1888"/>
              </a:lnSpc>
              <a:buNone/>
            </a:pPr>
            <a:r>
              <a:rPr lang="en-US" alt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directory feature</a:t>
            </a:r>
            <a:endParaRPr lang="en-US" sz="2400" dirty="0"/>
          </a:p>
        </p:txBody>
      </p:sp>
      <p:sp>
        <p:nvSpPr>
          <p:cNvPr id="16" name="hospitals-app-card"/>
          <p:cNvSpPr/>
          <p:nvPr/>
        </p:nvSpPr>
        <p:spPr>
          <a:xfrm>
            <a:off x="8215630" y="1828800"/>
            <a:ext cx="3485500" cy="2839324"/>
          </a:xfrm>
          <a:prstGeom prst="rect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8" name="hospitals-app-title"/>
          <p:cNvSpPr/>
          <p:nvPr/>
        </p:nvSpPr>
        <p:spPr>
          <a:xfrm>
            <a:off x="8520429" y="2320735"/>
            <a:ext cx="2681154" cy="513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hospitals</a:t>
            </a:r>
            <a:endParaRPr lang="en-US" sz="3200" dirty="0"/>
          </a:p>
        </p:txBody>
      </p:sp>
      <p:sp>
        <p:nvSpPr>
          <p:cNvPr id="19" name="hospitals-app-body"/>
          <p:cNvSpPr/>
          <p:nvPr/>
        </p:nvSpPr>
        <p:spPr>
          <a:xfrm>
            <a:off x="8520429" y="3092057"/>
            <a:ext cx="2815211" cy="855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Facilities and</a:t>
            </a:r>
            <a:endParaRPr lang="en-US" sz="2400" dirty="0"/>
          </a:p>
          <a:p>
            <a:pPr marL="0" indent="0" algn="l">
              <a:buNone/>
            </a:pPr>
            <a:r>
              <a:rPr lang="en-US" alt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bed availability feature</a:t>
            </a:r>
            <a:endParaRPr lang="en-US" sz="2400" dirty="0"/>
          </a:p>
        </p:txBody>
      </p:sp>
      <p:sp>
        <p:nvSpPr>
          <p:cNvPr id="20" name="prediction-card"/>
          <p:cNvSpPr/>
          <p:nvPr/>
        </p:nvSpPr>
        <p:spPr>
          <a:xfrm>
            <a:off x="12127230" y="1828800"/>
            <a:ext cx="3485500" cy="2839324"/>
          </a:xfrm>
          <a:prstGeom prst="rect">
            <a:avLst/>
          </a:prstGeom>
          <a:ln w="25400">
            <a:solidFill>
              <a:srgbClr val="E2E8F0"/>
            </a:solidFill>
            <a:prstDash val="dash"/>
          </a:ln>
        </p:spPr>
      </p:sp>
      <p:sp>
        <p:nvSpPr>
          <p:cNvPr id="22" name="prediction-title"/>
          <p:cNvSpPr/>
          <p:nvPr/>
        </p:nvSpPr>
        <p:spPr>
          <a:xfrm>
            <a:off x="12432030" y="2320735"/>
            <a:ext cx="2681154" cy="513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prediction</a:t>
            </a:r>
            <a:endParaRPr lang="en-US" sz="3200" dirty="0"/>
          </a:p>
        </p:txBody>
      </p:sp>
      <p:sp>
        <p:nvSpPr>
          <p:cNvPr id="23" name="prediction-body"/>
          <p:cNvSpPr/>
          <p:nvPr/>
        </p:nvSpPr>
        <p:spPr>
          <a:xfrm>
            <a:off x="12462374" y="3082337"/>
            <a:ext cx="2815211" cy="855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 checker</a:t>
            </a:r>
            <a:endParaRPr lang="en-US" sz="2400" dirty="0"/>
          </a:p>
          <a:p>
            <a:pPr marL="0" indent="0" algn="l">
              <a:buNone/>
            </a:pPr>
            <a:r>
              <a:rPr lang="en-US" alt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engine.py runs rules first</a:t>
            </a:r>
            <a:endParaRPr lang="en-US" sz="2400" dirty="0"/>
          </a:p>
        </p:txBody>
      </p:sp>
      <p:sp>
        <p:nvSpPr>
          <p:cNvPr id="25" name="ml-card"/>
          <p:cNvSpPr/>
          <p:nvPr/>
        </p:nvSpPr>
        <p:spPr>
          <a:xfrm>
            <a:off x="3508091" y="4921676"/>
            <a:ext cx="8901430" cy="1710436"/>
          </a:xfrm>
          <a:prstGeom prst="rect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pic>
        <p:nvPicPr>
          <p:cNvPr id="26" name="ml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403" y="5310632"/>
            <a:ext cx="581548" cy="581548"/>
          </a:xfrm>
          <a:prstGeom prst="rect">
            <a:avLst/>
          </a:prstGeom>
        </p:spPr>
      </p:pic>
      <p:sp>
        <p:nvSpPr>
          <p:cNvPr id="27" name="ml-title"/>
          <p:cNvSpPr/>
          <p:nvPr/>
        </p:nvSpPr>
        <p:spPr>
          <a:xfrm>
            <a:off x="4865394" y="5325618"/>
            <a:ext cx="3351442" cy="47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ml_model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609600" y="533400"/>
            <a:ext cx="1473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Scheme data is structured as checklists, with a visible verification date</a:t>
            </a:r>
            <a:endParaRPr lang="en-US" sz="3200" dirty="0"/>
          </a:p>
        </p:txBody>
      </p:sp>
      <p:sp>
        <p:nvSpPr>
          <p:cNvPr id="12" name="table-heading"/>
          <p:cNvSpPr/>
          <p:nvPr/>
        </p:nvSpPr>
        <p:spPr>
          <a:xfrm>
            <a:off x="940752" y="1127223"/>
            <a:ext cx="11200905" cy="54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Representative schemes and benefits</a:t>
            </a:r>
            <a:endParaRPr lang="en-US" sz="3200" dirty="0"/>
          </a:p>
        </p:txBody>
      </p:sp>
      <p:graphicFrame>
        <p:nvGraphicFramePr>
          <p:cNvPr id="13" name="schem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438775"/>
              </p:ext>
            </p:extLst>
          </p:nvPr>
        </p:nvGraphicFramePr>
        <p:xfrm>
          <a:off x="940752" y="1672845"/>
          <a:ext cx="14374495" cy="6756284"/>
        </p:xfrm>
        <a:graphic>
          <a:graphicData uri="http://schemas.openxmlformats.org/drawingml/2006/table">
            <a:tbl>
              <a:tblPr/>
              <a:tblGrid>
                <a:gridCol w="5482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1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5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Scheme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Benefit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5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AB PM-JAY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₹5 lakh cashless cover per family / year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5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MJPJAY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₹5 lakh for Maharashtra families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5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Ayushman Vay Vandana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₹5 lakh for anyone aged 70+, any income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5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Janani Suraksha Yojana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Cash for institutional delivery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5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PM Surakshit Matritva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 specialist ANC on the 9th monthly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5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Ni-kshay Poshan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₹1,000 / month nutrition support for TB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25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Janaushadhi Pariyojana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Generic medicines, 50–90% cheaper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25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Ayushman Bharat Digital Mission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 ABHA digital health ID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1277375" y="336296"/>
            <a:ext cx="6637509" cy="644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8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106 hospitals listed</a:t>
            </a:r>
            <a:endParaRPr lang="en-US" sz="4800" dirty="0"/>
          </a:p>
        </p:txBody>
      </p:sp>
      <p:sp>
        <p:nvSpPr>
          <p:cNvPr id="9" name="coverage-heading"/>
          <p:cNvSpPr/>
          <p:nvPr/>
        </p:nvSpPr>
        <p:spPr>
          <a:xfrm>
            <a:off x="1277375" y="1492390"/>
            <a:ext cx="6549306" cy="64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Listed by hospital type</a:t>
            </a:r>
            <a:endParaRPr lang="en-US" sz="3200" dirty="0"/>
          </a:p>
        </p:txBody>
      </p:sp>
      <p:graphicFrame>
        <p:nvGraphicFramePr>
          <p:cNvPr id="10" name="coverag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271629"/>
              </p:ext>
            </p:extLst>
          </p:nvPr>
        </p:nvGraphicFramePr>
        <p:xfrm>
          <a:off x="1277375" y="2102214"/>
          <a:ext cx="13701250" cy="6283373"/>
        </p:xfrm>
        <a:graphic>
          <a:graphicData uri="http://schemas.openxmlformats.org/drawingml/2006/table">
            <a:tbl>
              <a:tblPr/>
              <a:tblGrid>
                <a:gridCol w="1096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47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Count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96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State government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41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96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Municipal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96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Trust / charitable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96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Private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32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36</a:t>
                      </a:r>
                      <a:endParaRPr lang="en-US" sz="3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609600" y="533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4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symptom checker</a:t>
            </a:r>
            <a:endParaRPr lang="en-US" sz="4400" dirty="0"/>
          </a:p>
        </p:txBody>
      </p:sp>
      <p:sp>
        <p:nvSpPr>
          <p:cNvPr id="6" name="flow-one-card"/>
          <p:cNvSpPr/>
          <p:nvPr/>
        </p:nvSpPr>
        <p:spPr>
          <a:xfrm>
            <a:off x="326716" y="2082799"/>
            <a:ext cx="3478760" cy="1868518"/>
          </a:xfrm>
          <a:prstGeom prst="rect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dash"/>
          </a:ln>
        </p:spPr>
      </p:sp>
      <p:sp>
        <p:nvSpPr>
          <p:cNvPr id="7" name="flow-one-number"/>
          <p:cNvSpPr/>
          <p:nvPr/>
        </p:nvSpPr>
        <p:spPr>
          <a:xfrm>
            <a:off x="580715" y="2311398"/>
            <a:ext cx="518403" cy="380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flow-one-text"/>
          <p:cNvSpPr/>
          <p:nvPr/>
        </p:nvSpPr>
        <p:spPr>
          <a:xfrm>
            <a:off x="580715" y="2819398"/>
            <a:ext cx="2455595" cy="55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Symptoms</a:t>
            </a:r>
            <a:endParaRPr lang="en-US" sz="2400" dirty="0"/>
          </a:p>
        </p:txBody>
      </p:sp>
      <p:sp>
        <p:nvSpPr>
          <p:cNvPr id="10" name="flow-arrow-one"/>
          <p:cNvSpPr/>
          <p:nvPr/>
        </p:nvSpPr>
        <p:spPr>
          <a:xfrm>
            <a:off x="3577916" y="2832098"/>
            <a:ext cx="409266" cy="11401"/>
          </a:xfrm>
          <a:prstGeom prst="line">
            <a:avLst/>
          </a:prstGeom>
          <a:ln w="381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1" name="flow-two-card"/>
          <p:cNvSpPr/>
          <p:nvPr/>
        </p:nvSpPr>
        <p:spPr>
          <a:xfrm>
            <a:off x="3971616" y="2082799"/>
            <a:ext cx="3478760" cy="1868518"/>
          </a:xfrm>
          <a:prstGeom prst="rect">
            <a:avLst/>
          </a:prstGeom>
          <a:ln w="25400">
            <a:solidFill>
              <a:srgbClr val="E2E8F0"/>
            </a:solidFill>
            <a:prstDash val="dash"/>
          </a:ln>
        </p:spPr>
      </p:sp>
      <p:sp>
        <p:nvSpPr>
          <p:cNvPr id="12" name="flow-two-number"/>
          <p:cNvSpPr/>
          <p:nvPr/>
        </p:nvSpPr>
        <p:spPr>
          <a:xfrm>
            <a:off x="4225615" y="2311398"/>
            <a:ext cx="518403" cy="380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flow-two-text"/>
          <p:cNvSpPr/>
          <p:nvPr/>
        </p:nvSpPr>
        <p:spPr>
          <a:xfrm>
            <a:off x="4225615" y="2717798"/>
            <a:ext cx="2864861" cy="791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47"/>
              </a:lnSpc>
              <a:buNone/>
            </a:pPr>
            <a:r>
              <a:rPr lang="en-US" altLang="en-US" sz="24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Details + optional</a:t>
            </a:r>
            <a:endParaRPr lang="en-US" sz="2400" dirty="0"/>
          </a:p>
          <a:p>
            <a:pPr marL="0" indent="0" algn="ctr">
              <a:lnSpc>
                <a:spcPts val="2147"/>
              </a:lnSpc>
              <a:buNone/>
            </a:pPr>
            <a:r>
              <a:rPr lang="en-US" altLang="en-US" sz="24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report</a:t>
            </a:r>
            <a:endParaRPr lang="en-US" sz="2400" dirty="0"/>
          </a:p>
        </p:txBody>
      </p:sp>
      <p:sp>
        <p:nvSpPr>
          <p:cNvPr id="15" name="flow-arrow-two"/>
          <p:cNvSpPr/>
          <p:nvPr/>
        </p:nvSpPr>
        <p:spPr>
          <a:xfrm>
            <a:off x="7222816" y="2832098"/>
            <a:ext cx="409266" cy="11401"/>
          </a:xfrm>
          <a:prstGeom prst="line">
            <a:avLst/>
          </a:prstGeom>
          <a:ln w="381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6" name="flow-three-card"/>
          <p:cNvSpPr/>
          <p:nvPr/>
        </p:nvSpPr>
        <p:spPr>
          <a:xfrm>
            <a:off x="7616516" y="2082799"/>
            <a:ext cx="3478760" cy="1868518"/>
          </a:xfrm>
          <a:prstGeom prst="rect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dash"/>
          </a:ln>
        </p:spPr>
      </p:sp>
      <p:sp>
        <p:nvSpPr>
          <p:cNvPr id="17" name="flow-three-number"/>
          <p:cNvSpPr/>
          <p:nvPr/>
        </p:nvSpPr>
        <p:spPr>
          <a:xfrm>
            <a:off x="7870515" y="2311398"/>
            <a:ext cx="518403" cy="380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flow-three-text"/>
          <p:cNvSpPr/>
          <p:nvPr/>
        </p:nvSpPr>
        <p:spPr>
          <a:xfrm>
            <a:off x="7870515" y="2717798"/>
            <a:ext cx="2864861" cy="791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47"/>
              </a:lnSpc>
              <a:buNone/>
            </a:pPr>
            <a:r>
              <a:rPr lang="en-US" altLang="en-US" sz="24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follow-up</a:t>
            </a:r>
            <a:endParaRPr lang="en-US" sz="2400" dirty="0"/>
          </a:p>
          <a:p>
            <a:pPr marL="0" indent="0" algn="ctr">
              <a:lnSpc>
                <a:spcPts val="2147"/>
              </a:lnSpc>
              <a:buNone/>
            </a:pPr>
            <a:r>
              <a:rPr lang="en-US" altLang="en-US" sz="24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</a:t>
            </a:r>
            <a:endParaRPr lang="en-US" sz="2400" dirty="0"/>
          </a:p>
        </p:txBody>
      </p:sp>
      <p:sp>
        <p:nvSpPr>
          <p:cNvPr id="20" name="flow-arrow-three"/>
          <p:cNvSpPr/>
          <p:nvPr/>
        </p:nvSpPr>
        <p:spPr>
          <a:xfrm>
            <a:off x="10867716" y="2832098"/>
            <a:ext cx="409266" cy="11401"/>
          </a:xfrm>
          <a:prstGeom prst="line">
            <a:avLst/>
          </a:prstGeom>
          <a:ln w="381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1" name="flow-four-card"/>
          <p:cNvSpPr/>
          <p:nvPr/>
        </p:nvSpPr>
        <p:spPr>
          <a:xfrm>
            <a:off x="11261415" y="2082799"/>
            <a:ext cx="4406429" cy="186851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flow-four-number"/>
          <p:cNvSpPr/>
          <p:nvPr/>
        </p:nvSpPr>
        <p:spPr>
          <a:xfrm>
            <a:off x="11553515" y="2311398"/>
            <a:ext cx="518403" cy="380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flow-four-text"/>
          <p:cNvSpPr/>
          <p:nvPr/>
        </p:nvSpPr>
        <p:spPr>
          <a:xfrm>
            <a:off x="11553515" y="2717798"/>
            <a:ext cx="3410549" cy="791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60"/>
              </a:lnSpc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urgency</a:t>
            </a:r>
            <a:endParaRPr lang="en-US" sz="2800" dirty="0"/>
          </a:p>
          <a:p>
            <a:pPr marL="0" indent="0" algn="ctr">
              <a:lnSpc>
                <a:spcPts val="2260"/>
              </a:lnSpc>
              <a:buNone/>
            </a:pPr>
            <a:r>
              <a:rPr lang="en-US" alt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condition</a:t>
            </a:r>
            <a:endParaRPr lang="en-US" sz="2800" dirty="0"/>
          </a:p>
        </p:txBody>
      </p:sp>
      <p:sp>
        <p:nvSpPr>
          <p:cNvPr id="25" name="model-card"/>
          <p:cNvSpPr/>
          <p:nvPr/>
        </p:nvSpPr>
        <p:spPr>
          <a:xfrm>
            <a:off x="326716" y="4267198"/>
            <a:ext cx="6711960" cy="3420337"/>
          </a:xfrm>
          <a:prstGeom prst="rect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dash"/>
          </a:ln>
        </p:spPr>
      </p:sp>
      <p:sp>
        <p:nvSpPr>
          <p:cNvPr id="26" name="model-card-title"/>
          <p:cNvSpPr/>
          <p:nvPr/>
        </p:nvSpPr>
        <p:spPr>
          <a:xfrm>
            <a:off x="656916" y="4584698"/>
            <a:ext cx="5729722" cy="443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8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scope</a:t>
            </a:r>
            <a:endParaRPr lang="en-US" sz="2800" dirty="0"/>
          </a:p>
        </p:txBody>
      </p:sp>
      <p:sp>
        <p:nvSpPr>
          <p:cNvPr id="27" name="model-card-body"/>
          <p:cNvSpPr/>
          <p:nvPr/>
        </p:nvSpPr>
        <p:spPr>
          <a:xfrm>
            <a:off x="656916" y="5168899"/>
            <a:ext cx="5729722" cy="180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6"/>
              </a:lnSpc>
              <a:buNone/>
            </a:pPr>
            <a:r>
              <a:rPr lang="en-US" altLang="en-US" sz="24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RandomForestClassifier</a:t>
            </a:r>
            <a:r>
              <a:rPr lang="en-US" alt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180 trees</a:t>
            </a:r>
            <a:endParaRPr lang="en-US" sz="2400" dirty="0"/>
          </a:p>
          <a:p>
            <a:pPr marL="0" indent="0" algn="l">
              <a:lnSpc>
                <a:spcPts val="2286"/>
              </a:lnSpc>
              <a:buNone/>
            </a:pPr>
            <a:r>
              <a:rPr lang="en-US" alt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223 features: 189 symptoms, 21 context, 13 lab</a:t>
            </a:r>
            <a:endParaRPr lang="en-US" sz="2400" dirty="0"/>
          </a:p>
          <a:p>
            <a:pPr marL="0" indent="0" algn="l">
              <a:lnSpc>
                <a:spcPts val="2286"/>
              </a:lnSpc>
              <a:buNone/>
            </a:pPr>
            <a:r>
              <a:rPr lang="en-US" alt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22,389 training samples after de-duplication</a:t>
            </a:r>
            <a:endParaRPr lang="en-US" sz="2400" dirty="0"/>
          </a:p>
          <a:p>
            <a:pPr marL="0" indent="0" algn="l">
              <a:lnSpc>
                <a:spcPts val="2286"/>
              </a:lnSpc>
              <a:buNone/>
            </a:pPr>
            <a:r>
              <a:rPr lang="en-US" alt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 conditions</a:t>
            </a:r>
            <a:endParaRPr lang="en-US" sz="2400" dirty="0"/>
          </a:p>
        </p:txBody>
      </p:sp>
      <p:sp>
        <p:nvSpPr>
          <p:cNvPr id="28" name="performance-heading"/>
          <p:cNvSpPr/>
          <p:nvPr/>
        </p:nvSpPr>
        <p:spPr>
          <a:xfrm>
            <a:off x="7146616" y="4381498"/>
            <a:ext cx="5456878" cy="411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performance</a:t>
            </a:r>
            <a:endParaRPr lang="en-US" sz="2400" dirty="0"/>
          </a:p>
        </p:txBody>
      </p:sp>
      <p:graphicFrame>
        <p:nvGraphicFramePr>
          <p:cNvPr id="29" name="perform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112055"/>
              </p:ext>
            </p:extLst>
          </p:nvPr>
        </p:nvGraphicFramePr>
        <p:xfrm>
          <a:off x="7146616" y="4864098"/>
          <a:ext cx="8826500" cy="3274062"/>
        </p:xfrm>
        <a:graphic>
          <a:graphicData uri="http://schemas.openxmlformats.org/drawingml/2006/table">
            <a:tbl>
              <a:tblPr/>
              <a:tblGrid>
                <a:gridCol w="706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51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2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2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Value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24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Top-1 accuracy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24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0.789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24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Top-3 accuracy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24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0.911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24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Top-5 accuracy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24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0.941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24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Urgency exactly right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24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0.877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609600" y="533400"/>
            <a:ext cx="1485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Lab-report OCR is designed so errors can never lower urgency</a:t>
            </a:r>
            <a:endParaRPr lang="en-US" sz="3000" dirty="0"/>
          </a:p>
        </p:txBody>
      </p:sp>
      <p:sp>
        <p:nvSpPr>
          <p:cNvPr id="3" name="slide-summary"/>
          <p:cNvSpPr/>
          <p:nvPr/>
        </p:nvSpPr>
        <p:spPr>
          <a:xfrm>
            <a:off x="609600" y="1282700"/>
            <a:ext cx="140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entry is primary today; OCR removes a real low-literacy barrier while retaining asymmetric safety controls.</a:t>
            </a:r>
            <a:endParaRPr lang="en-US" sz="1800" dirty="0"/>
          </a:p>
        </p:txBody>
      </p:sp>
      <p:sp>
        <p:nvSpPr>
          <p:cNvPr id="4" name="header-accent"/>
          <p:cNvSpPr/>
          <p:nvPr/>
        </p:nvSpPr>
        <p:spPr>
          <a:xfrm>
            <a:off x="609600" y="1854200"/>
            <a:ext cx="2260600" cy="9144"/>
          </a:xfrm>
          <a:prstGeom prst="line">
            <a:avLst/>
          </a:prstGeom>
          <a:ln w="63500">
            <a:solidFill>
              <a:srgbClr val="059669"/>
            </a:solidFill>
            <a:prstDash val="solid"/>
          </a:ln>
        </p:spPr>
      </p:sp>
      <p:sp>
        <p:nvSpPr>
          <p:cNvPr id="5" name="header-divider"/>
          <p:cNvSpPr/>
          <p:nvPr/>
        </p:nvSpPr>
        <p:spPr>
          <a:xfrm>
            <a:off x="609600" y="2006600"/>
            <a:ext cx="15036800" cy="9144"/>
          </a:xfrm>
          <a:prstGeom prst="line">
            <a:avLst/>
          </a:prstGeom>
          <a:ln w="25400">
            <a:solidFill>
              <a:srgbClr val="E2E8F0"/>
            </a:solidFill>
            <a:prstDash val="dash"/>
          </a:ln>
        </p:spPr>
      </p:sp>
      <p:sp>
        <p:nvSpPr>
          <p:cNvPr id="6" name="manual-flow"/>
          <p:cNvSpPr/>
          <p:nvPr/>
        </p:nvSpPr>
        <p:spPr>
          <a:xfrm>
            <a:off x="609600" y="2463800"/>
            <a:ext cx="3937000" cy="1168400"/>
          </a:xfrm>
          <a:prstGeom prst="rect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dash"/>
          </a:ln>
        </p:spPr>
      </p:sp>
      <p:pic>
        <p:nvPicPr>
          <p:cNvPr id="7" name="manual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2819400"/>
            <a:ext cx="381000" cy="381000"/>
          </a:xfrm>
          <a:prstGeom prst="rect">
            <a:avLst/>
          </a:prstGeom>
        </p:spPr>
      </p:pic>
      <p:sp>
        <p:nvSpPr>
          <p:cNvPr id="8" name="manual-text"/>
          <p:cNvSpPr/>
          <p:nvPr/>
        </p:nvSpPr>
        <p:spPr>
          <a:xfrm>
            <a:off x="1600200" y="2679700"/>
            <a:ext cx="241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entry</a:t>
            </a:r>
            <a:endParaRPr lang="en-US" sz="1900" dirty="0"/>
          </a:p>
          <a:p>
            <a:pPr marL="0" indent="0" algn="l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mode</a:t>
            </a:r>
            <a:endParaRPr lang="en-US" sz="1900" dirty="0"/>
          </a:p>
        </p:txBody>
      </p:sp>
      <p:sp>
        <p:nvSpPr>
          <p:cNvPr id="9" name="manual-arrow"/>
          <p:cNvSpPr/>
          <p:nvPr/>
        </p:nvSpPr>
        <p:spPr>
          <a:xfrm>
            <a:off x="4546600" y="3048000"/>
            <a:ext cx="1193800" cy="9144"/>
          </a:xfrm>
          <a:prstGeom prst="line">
            <a:avLst/>
          </a:prstGeom>
          <a:ln w="381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0" name="ocr-flow"/>
          <p:cNvSpPr/>
          <p:nvPr/>
        </p:nvSpPr>
        <p:spPr>
          <a:xfrm>
            <a:off x="5765800" y="2463800"/>
            <a:ext cx="3937000" cy="1168400"/>
          </a:xfrm>
          <a:prstGeom prst="rect">
            <a:avLst/>
          </a:prstGeom>
          <a:ln w="25400">
            <a:solidFill>
              <a:srgbClr val="E2E8F0"/>
            </a:solidFill>
            <a:prstDash val="dash"/>
          </a:ln>
        </p:spPr>
      </p:sp>
      <p:pic>
        <p:nvPicPr>
          <p:cNvPr id="11" name="ocr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19400"/>
            <a:ext cx="381000" cy="381000"/>
          </a:xfrm>
          <a:prstGeom prst="rect">
            <a:avLst/>
          </a:prstGeom>
        </p:spPr>
      </p:pic>
      <p:sp>
        <p:nvSpPr>
          <p:cNvPr id="12" name="ocr-text"/>
          <p:cNvSpPr/>
          <p:nvPr/>
        </p:nvSpPr>
        <p:spPr>
          <a:xfrm>
            <a:off x="6756400" y="2679700"/>
            <a:ext cx="241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photo reading</a:t>
            </a:r>
            <a:endParaRPr lang="en-US" sz="1900" dirty="0"/>
          </a:p>
          <a:p>
            <a:pPr marL="0" indent="0" algn="l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1900" dirty="0"/>
          </a:p>
        </p:txBody>
      </p:sp>
      <p:sp>
        <p:nvSpPr>
          <p:cNvPr id="13" name="ocr-arrow"/>
          <p:cNvSpPr/>
          <p:nvPr/>
        </p:nvSpPr>
        <p:spPr>
          <a:xfrm>
            <a:off x="9702800" y="3048000"/>
            <a:ext cx="1193800" cy="9144"/>
          </a:xfrm>
          <a:prstGeom prst="line">
            <a:avLst/>
          </a:prstGeom>
          <a:ln w="381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4" name="confirmed-flow"/>
          <p:cNvSpPr/>
          <p:nvPr/>
        </p:nvSpPr>
        <p:spPr>
          <a:xfrm>
            <a:off x="10922000" y="2463800"/>
            <a:ext cx="4724400" cy="11684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5" name="confirmed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600" y="2819400"/>
            <a:ext cx="381000" cy="381000"/>
          </a:xfrm>
          <a:prstGeom prst="rect">
            <a:avLst/>
          </a:prstGeom>
        </p:spPr>
      </p:pic>
      <p:sp>
        <p:nvSpPr>
          <p:cNvPr id="16" name="confirmed-text"/>
          <p:cNvSpPr/>
          <p:nvPr/>
        </p:nvSpPr>
        <p:spPr>
          <a:xfrm>
            <a:off x="11938000" y="2679700"/>
            <a:ext cx="317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 values only</a:t>
            </a:r>
            <a:endParaRPr lang="en-US" sz="1900" dirty="0"/>
          </a:p>
          <a:p>
            <a:pPr marL="0" indent="0" algn="l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the model</a:t>
            </a:r>
            <a:endParaRPr lang="en-US" sz="1900" dirty="0"/>
          </a:p>
        </p:txBody>
      </p:sp>
      <p:sp>
        <p:nvSpPr>
          <p:cNvPr id="17" name="safeguards-heading"/>
          <p:cNvSpPr/>
          <p:nvPr/>
        </p:nvSpPr>
        <p:spPr>
          <a:xfrm>
            <a:off x="609600" y="4190999"/>
            <a:ext cx="10355946" cy="814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Safeguards</a:t>
            </a:r>
            <a:endParaRPr lang="en-US" sz="3600" dirty="0"/>
          </a:p>
        </p:txBody>
      </p:sp>
      <p:sp>
        <p:nvSpPr>
          <p:cNvPr id="18" name="guard-one"/>
          <p:cNvSpPr/>
          <p:nvPr/>
        </p:nvSpPr>
        <p:spPr>
          <a:xfrm>
            <a:off x="609600" y="4724399"/>
            <a:ext cx="12523470" cy="1744579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guard-one-number"/>
          <p:cNvSpPr/>
          <p:nvPr/>
        </p:nvSpPr>
        <p:spPr>
          <a:xfrm>
            <a:off x="888999" y="4940300"/>
            <a:ext cx="674341" cy="69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200" dirty="0"/>
          </a:p>
        </p:txBody>
      </p:sp>
      <p:sp>
        <p:nvSpPr>
          <p:cNvPr id="20" name="guard-one-text"/>
          <p:cNvSpPr/>
          <p:nvPr/>
        </p:nvSpPr>
        <p:spPr>
          <a:xfrm>
            <a:off x="1422400" y="5003734"/>
            <a:ext cx="10355946" cy="1046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2"/>
              </a:lnSpc>
              <a:buNone/>
            </a:pPr>
            <a:r>
              <a:rPr lang="en-US" altLang="en-US" sz="2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Confirmation, not pre-filling:</a:t>
            </a:r>
            <a:r>
              <a:rPr lang="en-US" altLang="en-US" sz="2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unconfirmed values are discarded.</a:t>
            </a:r>
            <a:endParaRPr lang="en-US" sz="2800" dirty="0"/>
          </a:p>
        </p:txBody>
      </p:sp>
      <p:sp>
        <p:nvSpPr>
          <p:cNvPr id="21" name="guard-two"/>
          <p:cNvSpPr/>
          <p:nvPr/>
        </p:nvSpPr>
        <p:spPr>
          <a:xfrm>
            <a:off x="609600" y="5562599"/>
            <a:ext cx="12523470" cy="1744579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22" name="guard-two-number"/>
          <p:cNvSpPr/>
          <p:nvPr/>
        </p:nvSpPr>
        <p:spPr>
          <a:xfrm>
            <a:off x="888999" y="5778500"/>
            <a:ext cx="674341" cy="69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200" dirty="0"/>
          </a:p>
        </p:txBody>
      </p:sp>
      <p:sp>
        <p:nvSpPr>
          <p:cNvPr id="23" name="guard-two-text"/>
          <p:cNvSpPr/>
          <p:nvPr/>
        </p:nvSpPr>
        <p:spPr>
          <a:xfrm>
            <a:off x="1422400" y="5979694"/>
            <a:ext cx="10355946" cy="1046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2"/>
              </a:lnSpc>
              <a:buNone/>
            </a:pPr>
            <a:r>
              <a:rPr lang="en-US" altLang="en-US" sz="2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Plausibility gate:</a:t>
            </a:r>
            <a:r>
              <a:rPr lang="en-US" altLang="en-US" sz="2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impossible values are rejected outright.</a:t>
            </a:r>
            <a:endParaRPr lang="en-US" sz="2800" dirty="0"/>
          </a:p>
        </p:txBody>
      </p:sp>
      <p:sp>
        <p:nvSpPr>
          <p:cNvPr id="24" name="guard-three"/>
          <p:cNvSpPr/>
          <p:nvPr/>
        </p:nvSpPr>
        <p:spPr>
          <a:xfrm>
            <a:off x="609600" y="6476332"/>
            <a:ext cx="12523470" cy="1084845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guard-three-number"/>
          <p:cNvSpPr/>
          <p:nvPr/>
        </p:nvSpPr>
        <p:spPr>
          <a:xfrm>
            <a:off x="748059" y="6786015"/>
            <a:ext cx="674341" cy="69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200" dirty="0"/>
          </a:p>
        </p:txBody>
      </p:sp>
      <p:sp>
        <p:nvSpPr>
          <p:cNvPr id="26" name="guard-three-text"/>
          <p:cNvSpPr/>
          <p:nvPr/>
        </p:nvSpPr>
        <p:spPr>
          <a:xfrm>
            <a:off x="1422400" y="6796440"/>
            <a:ext cx="10355946" cy="151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2"/>
              </a:lnSpc>
              <a:buNone/>
            </a:pPr>
            <a:r>
              <a:rPr lang="en-US" altLang="en-US" sz="2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Asymmetric rule:</a:t>
            </a:r>
            <a:r>
              <a:rPr lang="en-US" altLang="en-US" sz="2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lab values may raise urgency, but may never lower it.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609600" y="533400"/>
            <a:ext cx="14706600" cy="976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400" dirty="0">
                <a:solidFill>
                  <a:srgbClr val="1E3A8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Limitations and improvements</a:t>
            </a:r>
            <a:endParaRPr lang="en-US" sz="4400" dirty="0"/>
          </a:p>
        </p:txBody>
      </p:sp>
      <p:sp>
        <p:nvSpPr>
          <p:cNvPr id="11" name="limit-two-text"/>
          <p:cNvSpPr/>
          <p:nvPr/>
        </p:nvSpPr>
        <p:spPr>
          <a:xfrm>
            <a:off x="1229451" y="4191432"/>
            <a:ext cx="5882640" cy="176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Bed data:</a:t>
            </a:r>
            <a:r>
              <a:rPr lang="en-US" altLang="en-US" sz="2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Bed counts are demonstration data</a:t>
            </a:r>
            <a:endParaRPr lang="en-US" sz="2800" dirty="0"/>
          </a:p>
        </p:txBody>
      </p:sp>
      <p:sp>
        <p:nvSpPr>
          <p:cNvPr id="14" name="limit-three-text"/>
          <p:cNvSpPr/>
          <p:nvPr/>
        </p:nvSpPr>
        <p:spPr>
          <a:xfrm>
            <a:off x="1229451" y="6132763"/>
            <a:ext cx="5882640" cy="268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data:</a:t>
            </a:r>
            <a:r>
              <a:rPr lang="en-US" altLang="en-US" sz="2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 generated. We will use Kaggle datasets later.</a:t>
            </a:r>
            <a:endParaRPr lang="en-US" sz="2800" dirty="0"/>
          </a:p>
        </p:txBody>
      </p:sp>
      <p:sp>
        <p:nvSpPr>
          <p:cNvPr id="17" name="limit-four-text"/>
          <p:cNvSpPr/>
          <p:nvPr/>
        </p:nvSpPr>
        <p:spPr>
          <a:xfrm>
            <a:off x="1229451" y="1890963"/>
            <a:ext cx="6197781" cy="268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scope:</a:t>
            </a:r>
            <a:r>
              <a:rPr lang="en-US" altLang="en-US" sz="2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checker covers 70 conditions; anything outside that set may be mismatched to the nearest available pattern.</a:t>
            </a:r>
            <a:endParaRPr lang="en-US" sz="2800" dirty="0"/>
          </a:p>
        </p:txBody>
      </p:sp>
      <p:sp>
        <p:nvSpPr>
          <p:cNvPr id="20" name="limit-five-text"/>
          <p:cNvSpPr/>
          <p:nvPr/>
        </p:nvSpPr>
        <p:spPr>
          <a:xfrm>
            <a:off x="8773249" y="1890963"/>
            <a:ext cx="6197781" cy="176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OCR:</a:t>
            </a:r>
            <a:r>
              <a:rPr lang="en-US" altLang="en-US" sz="2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Photo quality determines how many values are read.</a:t>
            </a:r>
            <a:endParaRPr lang="en-US" sz="2800" dirty="0"/>
          </a:p>
        </p:txBody>
      </p:sp>
      <p:sp>
        <p:nvSpPr>
          <p:cNvPr id="23" name="limit-six-text"/>
          <p:cNvSpPr/>
          <p:nvPr/>
        </p:nvSpPr>
        <p:spPr>
          <a:xfrm>
            <a:off x="8773248" y="3735853"/>
            <a:ext cx="6197781" cy="268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Inclusive access:</a:t>
            </a:r>
            <a:r>
              <a:rPr lang="en-US" altLang="en-US" sz="2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text-heavy flows still leave gaps; icons, audio readback, and more Marathi coverage.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466</Words>
  <Application>Microsoft Office PowerPoint</Application>
  <PresentationFormat>Custom</PresentationFormat>
  <Paragraphs>124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Inter</vt:lpstr>
      <vt:lpstr>Merriweather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Arogya Disha — Healthcare Awareness &amp; Literacy Platform</dc:title>
  <dc:subject>Arogya Disha — Healthcare Awareness &amp; Literacy Platform</dc:subject>
  <dc:creator>Manus</dc:creator>
  <cp:lastModifiedBy>Priyanshu Prakhar</cp:lastModifiedBy>
  <cp:revision>6</cp:revision>
  <dcterms:created xsi:type="dcterms:W3CDTF">2026-08-13T17:55:22Z</dcterms:created>
  <dcterms:modified xsi:type="dcterms:W3CDTF">2026-08-13T18:50:14Z</dcterms:modified>
</cp:coreProperties>
</file>